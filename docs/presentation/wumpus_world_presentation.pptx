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65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Noto Sans Arabic"/>
              </a:defRPr>
            </a:pPr>
            <a:r>
              <a:t>Wumpus World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DCEAF5"/>
                </a:solidFill>
                <a:latin typeface="Noto Sans Arabic"/>
              </a:defRPr>
            </a:pPr>
            <a:r>
              <a:t>نسخه 8 - مقایسه A-Star، عامل قاعده‌محور و عامل ژنتیکی ترکیبی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16636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FFFFFF"/>
                </a:solidFill>
                <a:latin typeface="Noto Sans Arabic"/>
              </a:defRPr>
            </a:pPr>
            <a:r>
              <a:t>Mahan  |  هوش مصنوعی  |  1405/05/08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900" b="1">
                <a:solidFill>
                  <a:srgbClr val="0F3658"/>
                </a:solidFill>
                <a:latin typeface="Noto Sans Arabic"/>
              </a:defRPr>
            </a:pPr>
            <a:r>
              <a:t>تعریف مسئله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5C7082"/>
                </a:solidFill>
                <a:latin typeface="Noto Sans Arabic"/>
              </a:defRPr>
            </a:pPr>
            <a:r>
              <a:t>هدف عامل: طلا را بگیرد و زنده به خروج برسد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10972800" cy="22860"/>
          </a:xfrm>
          <a:prstGeom prst="rect">
            <a:avLst/>
          </a:prstGeom>
          <a:solidFill>
            <a:srgbClr val="D6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D8C"/>
                </a:solidFill>
                <a:latin typeface="Noto Sans Arabic"/>
              </a:defRPr>
            </a:pPr>
            <a:r>
              <a:t>Wumpus World v8  |  Mahan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200"/>
              </a:spcAft>
              <a:defRPr sz="2100">
                <a:solidFill>
                  <a:srgbClr val="25364A"/>
                </a:solidFill>
                <a:latin typeface="Noto Sans Arabic"/>
              </a:defRPr>
            </a:pPr>
            <a:r>
              <a:t>گرید 8×8 با دیوار، چاه، غول، طلا و خروج</a:t>
            </a:r>
          </a:p>
          <a:p>
            <a:pPr algn="r">
              <a:spcAft>
                <a:spcPts val="1200"/>
              </a:spcAft>
              <a:defRPr sz="2100">
                <a:solidFill>
                  <a:srgbClr val="25364A"/>
                </a:solidFill>
                <a:latin typeface="Noto Sans Arabic"/>
              </a:defRPr>
            </a:pPr>
            <a:r>
              <a:t>هر حرکت یک واحد جان کم می‌کند</a:t>
            </a:r>
          </a:p>
          <a:p>
            <a:pPr algn="r">
              <a:spcAft>
                <a:spcPts val="1200"/>
              </a:spcAft>
              <a:defRPr sz="2100">
                <a:solidFill>
                  <a:srgbClr val="25364A"/>
                </a:solidFill>
                <a:latin typeface="Noto Sans Arabic"/>
              </a:defRPr>
            </a:pPr>
            <a:r>
              <a:t>چاه جان را نصف و غول عامل را نابود می‌کند</a:t>
            </a:r>
          </a:p>
          <a:p>
            <a:pPr algn="r">
              <a:spcAft>
                <a:spcPts val="1200"/>
              </a:spcAft>
              <a:defRPr sz="2100">
                <a:solidFill>
                  <a:srgbClr val="25364A"/>
                </a:solidFill>
                <a:latin typeface="Noto Sans Arabic"/>
              </a:defRPr>
            </a:pPr>
            <a:r>
              <a:t>Breeze و Stench تنها ادراک خطر برای عامل‌های آنلاین هستند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900" b="1">
                <a:solidFill>
                  <a:srgbClr val="0F3658"/>
                </a:solidFill>
                <a:latin typeface="Noto Sans Arabic"/>
              </a:defRPr>
            </a:pPr>
            <a:r>
              <a:t>معماری مشترک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5C7082"/>
                </a:solidFill>
                <a:latin typeface="Noto Sans Arabic"/>
              </a:defRPr>
            </a:pPr>
            <a:r>
              <a:t>هر سه روش روی محیط و قرارداد اجرای یکسان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10972800" cy="22860"/>
          </a:xfrm>
          <a:prstGeom prst="rect">
            <a:avLst/>
          </a:prstGeom>
          <a:solidFill>
            <a:srgbClr val="D6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D8C"/>
                </a:solidFill>
                <a:latin typeface="Noto Sans Arabic"/>
              </a:defRPr>
            </a:pPr>
            <a:r>
              <a:t>Wumpus World v8  |  Mahan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200"/>
              </a:spcAft>
              <a:defRPr sz="2100">
                <a:solidFill>
                  <a:srgbClr val="25364A"/>
                </a:solidFill>
                <a:latin typeface="Noto Sans Arabic"/>
              </a:defRPr>
            </a:pPr>
            <a:r>
              <a:t>Parser سخت‌گیرانه و محیط deterministic</a:t>
            </a:r>
          </a:p>
          <a:p>
            <a:pPr algn="r">
              <a:spcAft>
                <a:spcPts val="1200"/>
              </a:spcAft>
              <a:defRPr sz="2100">
                <a:solidFill>
                  <a:srgbClr val="25364A"/>
                </a:solidFill>
                <a:latin typeface="Noto Sans Arabic"/>
              </a:defRPr>
            </a:pPr>
            <a:r>
              <a:t>رابط مشترک BaseAgent و تابع run_episode</a:t>
            </a:r>
          </a:p>
          <a:p>
            <a:pPr algn="r">
              <a:spcAft>
                <a:spcPts val="1200"/>
              </a:spcAft>
              <a:defRPr sz="2100">
                <a:solidFill>
                  <a:srgbClr val="25364A"/>
                </a:solidFill>
                <a:latin typeface="Noto Sans Arabic"/>
              </a:defRPr>
            </a:pPr>
            <a:r>
              <a:t>پایگاه دانش محلی برای دو عامل آنلاین</a:t>
            </a:r>
          </a:p>
          <a:p>
            <a:pPr algn="r">
              <a:spcAft>
                <a:spcPts val="1200"/>
              </a:spcAft>
              <a:defRPr sz="2100">
                <a:solidFill>
                  <a:srgbClr val="25364A"/>
                </a:solidFill>
                <a:latin typeface="Noto Sans Arabic"/>
              </a:defRPr>
            </a:pPr>
            <a:r>
              <a:t>Pipeline کامل: تولید نقشه → آموزش → تست → CSV → گزارش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900" b="1">
                <a:solidFill>
                  <a:srgbClr val="0F3658"/>
                </a:solidFill>
                <a:latin typeface="Noto Sans Arabic"/>
              </a:defRPr>
            </a:pPr>
            <a:r>
              <a:t>روش اول: A-Star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5C7082"/>
                </a:solidFill>
                <a:latin typeface="Noto Sans Arabic"/>
              </a:defRPr>
            </a:pPr>
            <a:r>
              <a:t>Oracle با اطلاعات کامل نقشه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10972800" cy="22860"/>
          </a:xfrm>
          <a:prstGeom prst="rect">
            <a:avLst/>
          </a:prstGeom>
          <a:solidFill>
            <a:srgbClr val="D6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D8C"/>
                </a:solidFill>
                <a:latin typeface="Noto Sans Arabic"/>
              </a:defRPr>
            </a:pPr>
            <a:r>
              <a:t>Wumpus World v8  |  Mahan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200"/>
              </a:spcAft>
              <a:defRPr sz="2100">
                <a:solidFill>
                  <a:srgbClr val="25364A"/>
                </a:solidFill>
                <a:latin typeface="Noto Sans Arabic"/>
              </a:defRPr>
            </a:pPr>
            <a:r>
              <a:t>حالت: موقعیت، جان و داشتن طلا</a:t>
            </a:r>
          </a:p>
          <a:p>
            <a:pPr algn="r">
              <a:spcAft>
                <a:spcPts val="1200"/>
              </a:spcAft>
              <a:defRPr sz="2100">
                <a:solidFill>
                  <a:srgbClr val="25364A"/>
                </a:solidFill>
                <a:latin typeface="Noto Sans Arabic"/>
              </a:defRPr>
            </a:pPr>
            <a:r>
              <a:t>دیوار و غول غیرقابل عبور</a:t>
            </a:r>
          </a:p>
          <a:p>
            <a:pPr algn="r">
              <a:spcAft>
                <a:spcPts val="1200"/>
              </a:spcAft>
              <a:defRPr sz="2100">
                <a:solidFill>
                  <a:srgbClr val="25364A"/>
                </a:solidFill>
                <a:latin typeface="Noto Sans Arabic"/>
              </a:defRPr>
            </a:pPr>
            <a:r>
              <a:t>چاه با کاهش واقعی جان و جریمه وارد cost می‌شود</a:t>
            </a:r>
          </a:p>
          <a:p>
            <a:pPr algn="r">
              <a:spcAft>
                <a:spcPts val="1200"/>
              </a:spcAft>
              <a:defRPr sz="2100">
                <a:solidFill>
                  <a:srgbClr val="25364A"/>
                </a:solidFill>
                <a:latin typeface="Noto Sans Arabic"/>
              </a:defRPr>
            </a:pPr>
            <a:r>
              <a:t>Heuristic: فاصله منهتن تا طلا و سپس خروج</a:t>
            </a:r>
          </a:p>
          <a:p>
            <a:pPr algn="r">
              <a:spcAft>
                <a:spcPts val="1200"/>
              </a:spcAft>
              <a:defRPr sz="2100">
                <a:solidFill>
                  <a:srgbClr val="25364A"/>
                </a:solidFill>
                <a:latin typeface="Noto Sans Arabic"/>
              </a:defRPr>
            </a:pPr>
            <a:r>
              <a:t>Baseline بالادستی؛ مقایسه مستقیم با عامل‌های آنلاین منصفانه نیست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900" b="1">
                <a:solidFill>
                  <a:srgbClr val="0F3658"/>
                </a:solidFill>
                <a:latin typeface="Noto Sans Arabic"/>
              </a:defRPr>
            </a:pPr>
            <a:r>
              <a:t>روش دوم: Rule-Based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5C7082"/>
                </a:solidFill>
                <a:latin typeface="Noto Sans Arabic"/>
              </a:defRPr>
            </a:pPr>
            <a:r>
              <a:t>استنتاج محلی، خانه امن و backtracking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10972800" cy="22860"/>
          </a:xfrm>
          <a:prstGeom prst="rect">
            <a:avLst/>
          </a:prstGeom>
          <a:solidFill>
            <a:srgbClr val="D6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D8C"/>
                </a:solidFill>
                <a:latin typeface="Noto Sans Arabic"/>
              </a:defRPr>
            </a:pPr>
            <a:r>
              <a:t>Wumpus World v8  |  Mahan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200"/>
              </a:spcAft>
              <a:defRPr sz="2100">
                <a:solidFill>
                  <a:srgbClr val="25364A"/>
                </a:solidFill>
                <a:latin typeface="Noto Sans Arabic"/>
              </a:defRPr>
            </a:pPr>
            <a:r>
              <a:t>No Breeze ⇒ همسایه‌ها چاه ندارند</a:t>
            </a:r>
          </a:p>
          <a:p>
            <a:pPr algn="r">
              <a:spcAft>
                <a:spcPts val="1200"/>
              </a:spcAft>
              <a:defRPr sz="2100">
                <a:solidFill>
                  <a:srgbClr val="25364A"/>
                </a:solidFill>
                <a:latin typeface="Noto Sans Arabic"/>
              </a:defRPr>
            </a:pPr>
            <a:r>
              <a:t>No Stench ⇒ همسایه‌ها غول ندارند</a:t>
            </a:r>
          </a:p>
          <a:p>
            <a:pPr algn="r">
              <a:spcAft>
                <a:spcPts val="1200"/>
              </a:spcAft>
              <a:defRPr sz="2100">
                <a:solidFill>
                  <a:srgbClr val="25364A"/>
                </a:solidFill>
                <a:latin typeface="Noto Sans Arabic"/>
              </a:defRPr>
            </a:pPr>
            <a:r>
              <a:t>Clause تک‌عضوی ⇒ خطر قطعی</a:t>
            </a:r>
          </a:p>
          <a:p>
            <a:pPr algn="r">
              <a:spcAft>
                <a:spcPts val="1200"/>
              </a:spcAft>
              <a:defRPr sz="2100">
                <a:solidFill>
                  <a:srgbClr val="25364A"/>
                </a:solidFill>
                <a:latin typeface="Noto Sans Arabic"/>
              </a:defRPr>
            </a:pPr>
            <a:r>
              <a:t>اولویت با safe frontier، سپس backtracking</a:t>
            </a:r>
          </a:p>
          <a:p>
            <a:pPr algn="r">
              <a:spcAft>
                <a:spcPts val="1200"/>
              </a:spcAft>
              <a:defRPr sz="2100">
                <a:solidFill>
                  <a:srgbClr val="25364A"/>
                </a:solidFill>
                <a:latin typeface="Noto Sans Arabic"/>
              </a:defRPr>
            </a:pPr>
            <a:r>
              <a:t>در نبود گزینه امن، کم‌خطرترین frontier انتخاب می‌شود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900" b="1">
                <a:solidFill>
                  <a:srgbClr val="0F3658"/>
                </a:solidFill>
                <a:latin typeface="Noto Sans Arabic"/>
              </a:defRPr>
            </a:pPr>
            <a:r>
              <a:t>روش سوم: Hybrid Genetic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5C7082"/>
                </a:solidFill>
                <a:latin typeface="Noto Sans Arabic"/>
              </a:defRPr>
            </a:pPr>
            <a:r>
              <a:t>وزن‌های GA برای اکتشاف + پایگاه دانش + بازگشت امن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10972800" cy="22860"/>
          </a:xfrm>
          <a:prstGeom prst="rect">
            <a:avLst/>
          </a:prstGeom>
          <a:solidFill>
            <a:srgbClr val="D6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D8C"/>
                </a:solidFill>
                <a:latin typeface="Noto Sans Arabic"/>
              </a:defRPr>
            </a:pPr>
            <a:r>
              <a:t>Wumpus World v8  |  Mahan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200"/>
              </a:spcAft>
              <a:defRPr sz="2100">
                <a:solidFill>
                  <a:srgbClr val="25364A"/>
                </a:solidFill>
                <a:latin typeface="Noto Sans Arabic"/>
              </a:defRPr>
            </a:pPr>
            <a:r>
              <a:t>10 ویژگی و 10 وزن حقیقی</a:t>
            </a:r>
          </a:p>
          <a:p>
            <a:pPr algn="r">
              <a:spcAft>
                <a:spcPts val="1200"/>
              </a:spcAft>
              <a:defRPr sz="2100">
                <a:solidFill>
                  <a:srgbClr val="25364A"/>
                </a:solidFill>
                <a:latin typeface="Noto Sans Arabic"/>
              </a:defRPr>
            </a:pPr>
            <a:r>
              <a:t>score(action) = Σ(weight × feature)</a:t>
            </a:r>
          </a:p>
          <a:p>
            <a:pPr algn="r">
              <a:spcAft>
                <a:spcPts val="1200"/>
              </a:spcAft>
              <a:defRPr sz="2100">
                <a:solidFill>
                  <a:srgbClr val="25364A"/>
                </a:solidFill>
                <a:latin typeface="Noto Sans Arabic"/>
              </a:defRPr>
            </a:pPr>
            <a:r>
              <a:t>وزن‌ها روی 12 نقشه آموزش تکامل یافته‌اند</a:t>
            </a:r>
          </a:p>
          <a:p>
            <a:pPr algn="r">
              <a:spcAft>
                <a:spcPts val="1200"/>
              </a:spcAft>
              <a:defRPr sz="2100">
                <a:solidFill>
                  <a:srgbClr val="25364A"/>
                </a:solidFill>
                <a:latin typeface="Noto Sans Arabic"/>
              </a:defRPr>
            </a:pPr>
            <a:r>
              <a:t>پس از طلا، کوتاه‌ترین مسیر شناخته‌شده امن استفاده می‌شود</a:t>
            </a:r>
          </a:p>
          <a:p>
            <a:pPr algn="r">
              <a:spcAft>
                <a:spcPts val="1200"/>
              </a:spcAft>
              <a:defRPr sz="2100">
                <a:solidFill>
                  <a:srgbClr val="25364A"/>
                </a:solidFill>
                <a:latin typeface="Noto Sans Arabic"/>
              </a:defRPr>
            </a:pPr>
            <a:r>
              <a:t>روش ترکیبی است؛ نه یک عامل کاملاً مستقل از قواعد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900" b="1">
                <a:solidFill>
                  <a:srgbClr val="0F3658"/>
                </a:solidFill>
                <a:latin typeface="Noto Sans Arabic"/>
              </a:defRPr>
            </a:pPr>
            <a:r>
              <a:t>آموزش الگوریتم ژنتیک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5C7082"/>
                </a:solidFill>
                <a:latin typeface="Noto Sans Arabic"/>
              </a:defRPr>
            </a:pPr>
            <a:r>
              <a:t>Population=24 | Generations=24 | Seed=17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10972800" cy="22860"/>
          </a:xfrm>
          <a:prstGeom prst="rect">
            <a:avLst/>
          </a:prstGeom>
          <a:solidFill>
            <a:srgbClr val="D6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D8C"/>
                </a:solidFill>
                <a:latin typeface="Noto Sans Arabic"/>
              </a:defRPr>
            </a:pPr>
            <a:r>
              <a:t>Wumpus World v8  |  Mahan</a:t>
            </a:r>
          </a:p>
        </p:txBody>
      </p:sp>
      <p:pic>
        <p:nvPicPr>
          <p:cNvPr id="6" name="Picture 5" descr="genetic_fit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417320"/>
            <a:ext cx="6949440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0" y="1645920"/>
            <a:ext cx="2834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3658"/>
                </a:solidFill>
                <a:latin typeface="Noto Sans Arabic"/>
              </a:defRPr>
            </a:pPr>
            <a:r>
              <a:t>Best fitness</a:t>
            </a:r>
            <a:br/>
            <a:r>
              <a:t>1840.67</a:t>
            </a:r>
            <a:br/>
            <a:br/>
            <a:r>
              <a:t>Training maps</a:t>
            </a:r>
            <a:br/>
            <a:r>
              <a:t>12</a:t>
            </a:r>
            <a:br/>
            <a:br/>
            <a:r>
              <a:t>Training success</a:t>
            </a:r>
            <a:br/>
            <a:r>
              <a:t>100%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900" b="1">
                <a:solidFill>
                  <a:srgbClr val="0F3658"/>
                </a:solidFill>
                <a:latin typeface="Noto Sans Arabic"/>
              </a:defRPr>
            </a:pPr>
            <a:r>
              <a:t>طراحی آزمایش نهایی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5C7082"/>
                </a:solidFill>
                <a:latin typeface="Noto Sans Arabic"/>
              </a:defRPr>
            </a:pPr>
            <a:r>
              <a:t>30 نقشه دیده‌نشده و 90 اپیزود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10972800" cy="22860"/>
          </a:xfrm>
          <a:prstGeom prst="rect">
            <a:avLst/>
          </a:prstGeom>
          <a:solidFill>
            <a:srgbClr val="D6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D8C"/>
                </a:solidFill>
                <a:latin typeface="Noto Sans Arabic"/>
              </a:defRPr>
            </a:pPr>
            <a:r>
              <a:t>Wumpus World v8  |  Mahan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200"/>
              </a:spcAft>
              <a:defRPr sz="2100">
                <a:solidFill>
                  <a:srgbClr val="25364A"/>
                </a:solidFill>
                <a:latin typeface="Noto Sans Arabic"/>
              </a:defRPr>
            </a:pPr>
            <a:r>
              <a:t>10 آسان، 10 متوسط، 10 سخت</a:t>
            </a:r>
          </a:p>
          <a:p>
            <a:pPr algn="r">
              <a:spcAft>
                <a:spcPts val="1200"/>
              </a:spcAft>
              <a:defRPr sz="2100">
                <a:solidFill>
                  <a:srgbClr val="25364A"/>
                </a:solidFill>
                <a:latin typeface="Noto Sans Arabic"/>
              </a:defRPr>
            </a:pPr>
            <a:r>
              <a:t>خروج، طلا و طول مسیرها متنوع</a:t>
            </a:r>
          </a:p>
          <a:p>
            <a:pPr algn="r">
              <a:spcAft>
                <a:spcPts val="1200"/>
              </a:spcAft>
              <a:defRPr sz="2100">
                <a:solidFill>
                  <a:srgbClr val="25364A"/>
                </a:solidFill>
                <a:latin typeface="Noto Sans Arabic"/>
              </a:defRPr>
            </a:pPr>
            <a:r>
              <a:t>جان اولیه همه سطوح برابر 120</a:t>
            </a:r>
          </a:p>
          <a:p>
            <a:pPr algn="r">
              <a:spcAft>
                <a:spcPts val="1200"/>
              </a:spcAft>
              <a:defRPr sz="2100">
                <a:solidFill>
                  <a:srgbClr val="25364A"/>
                </a:solidFill>
                <a:latin typeface="Noto Sans Arabic"/>
              </a:defRPr>
            </a:pPr>
            <a:r>
              <a:t>زمان: median سه اجرای کامل</a:t>
            </a:r>
          </a:p>
          <a:p>
            <a:pPr algn="r">
              <a:spcAft>
                <a:spcPts val="1200"/>
              </a:spcAft>
              <a:defRPr sz="2100">
                <a:solidFill>
                  <a:srgbClr val="25364A"/>
                </a:solidFill>
                <a:latin typeface="Noto Sans Arabic"/>
              </a:defRPr>
            </a:pPr>
            <a:r>
              <a:t>حرکت اپیزودهای موفق جداگانه گزارش می‌شود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900" b="1">
                <a:solidFill>
                  <a:srgbClr val="0F3658"/>
                </a:solidFill>
                <a:latin typeface="Noto Sans Arabic"/>
              </a:defRPr>
            </a:pPr>
            <a:r>
              <a:t>نتیجه کلی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5C7082"/>
                </a:solidFill>
                <a:latin typeface="Noto Sans Arabic"/>
              </a:defRPr>
            </a:pPr>
            <a:r>
              <a:t>A-Star کران بالا؛ مقایسه اصلی بین دو عامل آنلاین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10972800" cy="22860"/>
          </a:xfrm>
          <a:prstGeom prst="rect">
            <a:avLst/>
          </a:prstGeom>
          <a:solidFill>
            <a:srgbClr val="D6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D8C"/>
                </a:solidFill>
                <a:latin typeface="Noto Sans Arabic"/>
              </a:defRPr>
            </a:pPr>
            <a:r>
              <a:t>Wumpus World v8  |  Mahan</a:t>
            </a:r>
          </a:p>
        </p:txBody>
      </p:sp>
      <p:pic>
        <p:nvPicPr>
          <p:cNvPr id="6" name="Picture 5" descr="success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6583680" cy="4251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35240" y="1828800"/>
            <a:ext cx="374903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F3658"/>
                </a:solidFill>
                <a:latin typeface="Noto Sans Arabic"/>
              </a:defRPr>
            </a:pPr>
            <a:r>
              <a:t>A-Star: 100.0%</a:t>
            </a:r>
            <a:br/>
            <a:r>
              <a:t>Rule-Based: 90.0%</a:t>
            </a:r>
            <a:br/>
            <a:r>
              <a:t>Hybrid Genetic: 83.33%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900" b="1">
                <a:solidFill>
                  <a:srgbClr val="0F3658"/>
                </a:solidFill>
                <a:latin typeface="Noto Sans Arabic"/>
              </a:defRPr>
            </a:pPr>
            <a:r>
              <a:t>تحلیل عامل‌های آنلاین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5C7082"/>
                </a:solidFill>
                <a:latin typeface="Noto Sans Arabic"/>
              </a:defRPr>
            </a:pPr>
            <a:r>
              <a:t>اطمینان بیشتر در برابر مسیر موفق کوتاه‌تر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10972800" cy="22860"/>
          </a:xfrm>
          <a:prstGeom prst="rect">
            <a:avLst/>
          </a:prstGeom>
          <a:solidFill>
            <a:srgbClr val="D6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D8C"/>
                </a:solidFill>
                <a:latin typeface="Noto Sans Arabic"/>
              </a:defRPr>
            </a:pPr>
            <a:r>
              <a:t>Wumpus World v8  |  Mahan</a:t>
            </a:r>
          </a:p>
        </p:txBody>
      </p:sp>
      <p:pic>
        <p:nvPicPr>
          <p:cNvPr id="6" name="Picture 5" descr="average_steps_su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20"/>
            <a:ext cx="6583680" cy="4251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52360" y="1572768"/>
            <a:ext cx="4023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200"/>
              </a:spcAft>
              <a:defRPr sz="1800">
                <a:solidFill>
                  <a:srgbClr val="25364A"/>
                </a:solidFill>
                <a:latin typeface="Noto Sans Arabic"/>
              </a:defRPr>
            </a:pPr>
            <a:r>
              <a:t>Rule-Based: موفقیت 90٪</a:t>
            </a:r>
          </a:p>
          <a:p>
            <a:pPr algn="r">
              <a:spcAft>
                <a:spcPts val="1200"/>
              </a:spcAft>
              <a:defRPr sz="1800">
                <a:solidFill>
                  <a:srgbClr val="25364A"/>
                </a:solidFill>
                <a:latin typeface="Noto Sans Arabic"/>
              </a:defRPr>
            </a:pPr>
            <a:r>
              <a:t>Hybrid Genetic: موفقیت 83.33٪</a:t>
            </a:r>
          </a:p>
          <a:p>
            <a:pPr algn="r">
              <a:spcAft>
                <a:spcPts val="1200"/>
              </a:spcAft>
              <a:defRPr sz="1800">
                <a:solidFill>
                  <a:srgbClr val="25364A"/>
                </a:solidFill>
                <a:latin typeface="Noto Sans Arabic"/>
              </a:defRPr>
            </a:pPr>
            <a:r>
              <a:t>حرکت موفق Rule-Based: 32.30</a:t>
            </a:r>
          </a:p>
          <a:p>
            <a:pPr algn="r">
              <a:spcAft>
                <a:spcPts val="1200"/>
              </a:spcAft>
              <a:defRPr sz="1800">
                <a:solidFill>
                  <a:srgbClr val="25364A"/>
                </a:solidFill>
                <a:latin typeface="Noto Sans Arabic"/>
              </a:defRPr>
            </a:pPr>
            <a:r>
              <a:t>حرکت موفق Genetic: 24.60</a:t>
            </a:r>
          </a:p>
          <a:p>
            <a:pPr algn="r">
              <a:spcAft>
                <a:spcPts val="1200"/>
              </a:spcAft>
              <a:defRPr sz="1800">
                <a:solidFill>
                  <a:srgbClr val="25364A"/>
                </a:solidFill>
                <a:latin typeface="Noto Sans Arabic"/>
              </a:defRPr>
            </a:pPr>
            <a:r>
              <a:t>Genetic سریع‌تر اما در برابر غول ریسک‌پذیرتر است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900" b="1">
                <a:solidFill>
                  <a:srgbClr val="0F3658"/>
                </a:solidFill>
                <a:latin typeface="Noto Sans Arabic"/>
              </a:defRPr>
            </a:pPr>
            <a:r>
              <a:t>اصلاحات کلیدی نسخه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5C7082"/>
                </a:solidFill>
                <a:latin typeface="Noto Sans Arabic"/>
              </a:defRPr>
            </a:pPr>
            <a:r>
              <a:t>مشکلات منطقی، آزمایشی و مستنداتی برطرف شدند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10972800" cy="22860"/>
          </a:xfrm>
          <a:prstGeom prst="rect">
            <a:avLst/>
          </a:prstGeom>
          <a:solidFill>
            <a:srgbClr val="D6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D8C"/>
                </a:solidFill>
                <a:latin typeface="Noto Sans Arabic"/>
              </a:defRPr>
            </a:pPr>
            <a:r>
              <a:t>Wumpus World v8  |  Mahan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200"/>
              </a:spcAft>
              <a:defRPr sz="2100">
                <a:solidFill>
                  <a:srgbClr val="25364A"/>
                </a:solidFill>
                <a:latin typeface="Noto Sans Arabic"/>
              </a:defRPr>
            </a:pPr>
            <a:r>
              <a:t>ثبت صحیح max_steps و علت پایان</a:t>
            </a:r>
          </a:p>
          <a:p>
            <a:pPr algn="r">
              <a:spcAft>
                <a:spcPts val="1200"/>
              </a:spcAft>
              <a:defRPr sz="2100">
                <a:solidFill>
                  <a:srgbClr val="25364A"/>
                </a:solidFill>
                <a:latin typeface="Noto Sans Arabic"/>
              </a:defRPr>
            </a:pPr>
            <a:r>
              <a:t>تشخیص چاه بازدیدشده و جلوگیری از safe اشتباه</a:t>
            </a:r>
          </a:p>
          <a:p>
            <a:pPr algn="r">
              <a:spcAft>
                <a:spcPts val="1200"/>
              </a:spcAft>
              <a:defRPr sz="2100">
                <a:solidFill>
                  <a:srgbClr val="25364A"/>
                </a:solidFill>
                <a:latin typeface="Noto Sans Arabic"/>
              </a:defRPr>
            </a:pPr>
            <a:r>
              <a:t>حذف برنامه‌ریزی دوباره A-Star در timing</a:t>
            </a:r>
          </a:p>
          <a:p>
            <a:pPr algn="r">
              <a:spcAft>
                <a:spcPts val="1200"/>
              </a:spcAft>
              <a:defRPr sz="2100">
                <a:solidFill>
                  <a:srgbClr val="25364A"/>
                </a:solidFill>
                <a:latin typeface="Noto Sans Arabic"/>
              </a:defRPr>
            </a:pPr>
            <a:r>
              <a:t>جان اولیه ثابت و خروج‌های متنوع</a:t>
            </a:r>
          </a:p>
          <a:p>
            <a:pPr algn="r">
              <a:spcAft>
                <a:spcPts val="1200"/>
              </a:spcAft>
              <a:defRPr sz="2100">
                <a:solidFill>
                  <a:srgbClr val="25364A"/>
                </a:solidFill>
                <a:latin typeface="Noto Sans Arabic"/>
              </a:defRPr>
            </a:pPr>
            <a:r>
              <a:t>معیار حرکت موفق و runtime تکرارشده</a:t>
            </a:r>
          </a:p>
          <a:p>
            <a:pPr algn="r">
              <a:spcAft>
                <a:spcPts val="1200"/>
              </a:spcAft>
              <a:defRPr sz="2100">
                <a:solidFill>
                  <a:srgbClr val="25364A"/>
                </a:solidFill>
                <a:latin typeface="Noto Sans Arabic"/>
              </a:defRPr>
            </a:pPr>
            <a:r>
              <a:t>44 تست، CI، MIT License و artifacts قابل‌بازتولید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900" b="1">
                <a:solidFill>
                  <a:srgbClr val="0F3658"/>
                </a:solidFill>
                <a:latin typeface="Noto Sans Arabic"/>
              </a:defRPr>
            </a:pPr>
            <a:r>
              <a:t>محدودیت‌ها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5C7082"/>
                </a:solidFill>
                <a:latin typeface="Noto Sans Arabic"/>
              </a:defRPr>
            </a:pPr>
            <a:r>
              <a:t>تفسیر دقیق و قابل دفاع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10972800" cy="22860"/>
          </a:xfrm>
          <a:prstGeom prst="rect">
            <a:avLst/>
          </a:prstGeom>
          <a:solidFill>
            <a:srgbClr val="D6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D8C"/>
                </a:solidFill>
                <a:latin typeface="Noto Sans Arabic"/>
              </a:defRPr>
            </a:pPr>
            <a:r>
              <a:t>Wumpus World v8  |  Mahan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200"/>
              </a:spcAft>
              <a:defRPr sz="2100">
                <a:solidFill>
                  <a:srgbClr val="25364A"/>
                </a:solidFill>
                <a:latin typeface="Noto Sans Arabic"/>
              </a:defRPr>
            </a:pPr>
            <a:r>
              <a:t>A-Star سطح اطلاعات متفاوت دارد</a:t>
            </a:r>
          </a:p>
          <a:p>
            <a:pPr algn="r">
              <a:spcAft>
                <a:spcPts val="1200"/>
              </a:spcAft>
              <a:defRPr sz="2100">
                <a:solidFill>
                  <a:srgbClr val="25364A"/>
                </a:solidFill>
                <a:latin typeface="Noto Sans Arabic"/>
              </a:defRPr>
            </a:pPr>
            <a:r>
              <a:t>نتایج برای seed ثبت‌شده معتبرند</a:t>
            </a:r>
          </a:p>
          <a:p>
            <a:pPr algn="r">
              <a:spcAft>
                <a:spcPts val="1200"/>
              </a:spcAft>
              <a:defRPr sz="2100">
                <a:solidFill>
                  <a:srgbClr val="25364A"/>
                </a:solidFill>
                <a:latin typeface="Noto Sans Arabic"/>
              </a:defRPr>
            </a:pPr>
            <a:r>
              <a:t>GA تضمین موفقیت یا بهینگی ندارد</a:t>
            </a:r>
          </a:p>
          <a:p>
            <a:pPr algn="r">
              <a:spcAft>
                <a:spcPts val="1200"/>
              </a:spcAft>
              <a:defRPr sz="2100">
                <a:solidFill>
                  <a:srgbClr val="25364A"/>
                </a:solidFill>
                <a:latin typeface="Noto Sans Arabic"/>
              </a:defRPr>
            </a:pPr>
            <a:r>
              <a:t>Runtime به سخت‌افزار وابسته است</a:t>
            </a:r>
          </a:p>
          <a:p>
            <a:pPr algn="r">
              <a:spcAft>
                <a:spcPts val="1200"/>
              </a:spcAft>
              <a:defRPr sz="2100">
                <a:solidFill>
                  <a:srgbClr val="25364A"/>
                </a:solidFill>
                <a:latin typeface="Noto Sans Arabic"/>
              </a:defRPr>
            </a:pPr>
            <a:r>
              <a:t>چند seed و فاصله اطمینان، ادامه علمی مناسب پروژه است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900" b="1">
                <a:solidFill>
                  <a:srgbClr val="0F3658"/>
                </a:solidFill>
                <a:latin typeface="Noto Sans Arabic"/>
              </a:defRPr>
            </a:pPr>
            <a:r>
              <a:t>نتیجه‌گیری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5C7082"/>
                </a:solidFill>
                <a:latin typeface="Noto Sans Arabic"/>
              </a:defRPr>
            </a:pPr>
            <a:r>
              <a:t>انتخاب روش به سطح اطلاعات و اولویت پروژه وابسته است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10972800" cy="22860"/>
          </a:xfrm>
          <a:prstGeom prst="rect">
            <a:avLst/>
          </a:prstGeom>
          <a:solidFill>
            <a:srgbClr val="D6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D8C"/>
                </a:solidFill>
                <a:latin typeface="Noto Sans Arabic"/>
              </a:defRPr>
            </a:pPr>
            <a:r>
              <a:t>Wumpus World v8  |  Mahan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200"/>
              </a:spcAft>
              <a:defRPr sz="2100">
                <a:solidFill>
                  <a:srgbClr val="25364A"/>
                </a:solidFill>
                <a:latin typeface="Noto Sans Arabic"/>
              </a:defRPr>
            </a:pPr>
            <a:r>
              <a:t>نقشه کامل: A-Star بهترین baseline</a:t>
            </a:r>
          </a:p>
          <a:p>
            <a:pPr algn="r">
              <a:spcAft>
                <a:spcPts val="1200"/>
              </a:spcAft>
              <a:defRPr sz="2100">
                <a:solidFill>
                  <a:srgbClr val="25364A"/>
                </a:solidFill>
                <a:latin typeface="Noto Sans Arabic"/>
              </a:defRPr>
            </a:pPr>
            <a:r>
              <a:t>محیط ناشناخته و نیاز به اطمینان: Rule-Based</a:t>
            </a:r>
          </a:p>
          <a:p>
            <a:pPr algn="r">
              <a:spcAft>
                <a:spcPts val="1200"/>
              </a:spcAft>
              <a:defRPr sz="2100">
                <a:solidFill>
                  <a:srgbClr val="25364A"/>
                </a:solidFill>
                <a:latin typeface="Noto Sans Arabic"/>
              </a:defRPr>
            </a:pPr>
            <a:r>
              <a:t>کوتاهی مسیر موفق با پذیرش ریسک بیشتر: Hybrid Genetic</a:t>
            </a:r>
          </a:p>
          <a:p>
            <a:pPr algn="r">
              <a:spcAft>
                <a:spcPts val="1200"/>
              </a:spcAft>
              <a:defRPr sz="2100">
                <a:solidFill>
                  <a:srgbClr val="25364A"/>
                </a:solidFill>
                <a:latin typeface="Noto Sans Arabic"/>
              </a:defRPr>
            </a:pPr>
            <a:r>
              <a:t>نسخه 8 شامل کد، 44 تست، داده، وزن، نتایج، گزارش و ارائه است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